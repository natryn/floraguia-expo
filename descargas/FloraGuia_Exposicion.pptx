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Digber David Espinoza Huamani</a:t>
            </a:r>
          </a:p>
          <a:p>
            <a:r>
              <a:t>• Saludar y presentar la startup Raíz Urbana y su producto FloraGuía.</a:t>
            </a:r>
          </a:p>
          <a:p>
            <a:r>
              <a:t>• Explicar en una frase el objetivo: recomendar qué especies sembrar según las condiciones de cada zona.</a:t>
            </a:r>
          </a:p>
          <a:p>
            <a:r>
              <a:t>• Anunciar el orden de la exposición y quién presenta cada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Digber David Espinoza Huamani</a:t>
            </a:r>
          </a:p>
          <a:p>
            <a:r>
              <a:t>• La selección de especies se hace de forma empírica: experiencia personal, recomendaciones informales o búsquedas dispersas.</a:t>
            </a:r>
          </a:p>
          <a:p>
            <a:r>
              <a:t>• Actores: aficionados, personal técnico de SERPAR (ingenieros forestales, agrónomos, planificadores) y viveros.</a:t>
            </a:r>
          </a:p>
          <a:p>
            <a:r>
              <a:t>• Lima tiene microclimas muy distintos entre distritos, por eso no sirve un criterio único de siembra.</a:t>
            </a:r>
          </a:p>
          <a:p>
            <a:r>
              <a:t>• Antecedente: Rivera et al. (2024) evaluaron el programa “Árboles para Lima” en ocho distritos de Lima Sur; la supervivencia varió según el distrito.</a:t>
            </a:r>
          </a:p>
          <a:p>
            <a:r>
              <a:t>• Causa raíz: falta una fuente centralizada y técnicamente validada.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Digber David Espinoza Huamani</a:t>
            </a:r>
          </a:p>
          <a:p>
            <a:r>
              <a:t>• FloraGuía es un sistema de base de datos relacional especializado en compatibilidad botánica y microclimática.</a:t>
            </a:r>
          </a:p>
          <a:p>
            <a:r>
              <a:t>• Recorrer los cuatro pilares: sugerencias precisas, eficiencia para SERPAR, guía para el aficionado y estructura escalable.</a:t>
            </a:r>
          </a:p>
          <a:p>
            <a:r>
              <a:t>• A futuro: ciclo de vida de la planta y sensores de humedad y temperatura.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Digber David Espinoza Huamani</a:t>
            </a:r>
          </a:p>
          <a:p>
            <a:r>
              <a:t>• Segmento 1: personas que cultivan en casa y necesitan orientación práctica para no perder sus plantas.</a:t>
            </a:r>
          </a:p>
          <a:p>
            <a:r>
              <a:t>• Segmento 2: personal técnico y administrativo de SERPAR que necesita criterios objetivos para cada zona.</a:t>
            </a:r>
          </a:p>
          <a:p>
            <a:r>
              <a:t>• Ceder la palabra para presentar las entrevistas.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Brother Pablo Moreno Cordova</a:t>
            </a:r>
          </a:p>
          <a:p>
            <a:r>
              <a:t>• Se diseñaron 9 preguntas por segmento (A1–A9 para aficionados, G1–G9 para gestores); cada una alimenta un dato o requisito.</a:t>
            </a:r>
          </a:p>
          <a:p>
            <a:r>
              <a:t>• Aficionado: aprendió de forma empírica, con sus padres, internet y YouTube.</a:t>
            </a:r>
          </a:p>
          <a:p>
            <a:r>
              <a:t>• Gestor: la selección depende del clima, el suelo, el agua y el mantenimiento.</a:t>
            </a:r>
          </a:p>
          <a:p>
            <a:r>
              <a:t>• Videos: youtu.be/o0iCu0jrKZc y youtu.be/uRWa8MzIz0E.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Brother Pablo Moreno Cordova</a:t>
            </a:r>
          </a:p>
          <a:p>
            <a:r>
              <a:t>• E1 = aficionado; E2 = gestor de áreas verdes.</a:t>
            </a:r>
          </a:p>
          <a:p>
            <a:r>
              <a:t>• El aficionado tuvo problemas con hongos y con el sol, y pidió notificaciones con los pasos exactos de cuidado.</a:t>
            </a:r>
          </a:p>
          <a:p>
            <a:r>
              <a:t>• El gestor pidió organizar parques, jardines y alamedas con sus condiciones, informes de recursos y validación por especialistas.</a:t>
            </a:r>
          </a:p>
          <a:p>
            <a:r>
              <a:t>• El registro de plantas sobrevivientes y reemplazadas queda como módulo futuro de ciclo de vida (RNF-05).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Brother Pablo Moreno Cordova</a:t>
            </a:r>
          </a:p>
          <a:p>
            <a:r>
              <a:t>• Prioridad alta: registro de usuarios, catálogo de especies, suelos, zonas, compatibilidad, recomendación y validación de datos (RF-01 a RF-06, RF-13).</a:t>
            </a:r>
          </a:p>
          <a:p>
            <a:r>
              <a:t>• No funcionales clave: contraseñas con hash, integridad con PK/FK/UNIQUE/CHECK, normalización hasta 3FN e implementación en SQL Server.</a:t>
            </a:r>
          </a:p>
          <a:p>
            <a:r>
              <a:t>• Ceder la palabra para el diseño de la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Bryan Jair Lluen Garnique</a:t>
            </a:r>
          </a:p>
          <a:p>
            <a:r>
              <a:t>• Las entidades salen de los módulos del sistema y de los requisitos; cada una responde al menos a un requisito.</a:t>
            </a:r>
          </a:p>
          <a:p>
            <a:r>
              <a:t>• Las relaciones muchos a muchos se resuelven con EspecieTipoSuelo, EspeciePlaga y Compatibilidad.</a:t>
            </a:r>
          </a:p>
          <a:p>
            <a:r>
              <a:t>• 1FN: valores atómicos; 2FN: en claves compuestas todo depende de la clave completa; 3FN: sin dependencias transitivas.</a:t>
            </a:r>
          </a:p>
          <a:p>
            <a:r>
              <a:t>• Compatibilidad podría calcularse, pero se conserva porque guarda una evaluación validada y fechada (RF-05, RF-13).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Bryan Jair Lluen Garnique</a:t>
            </a:r>
          </a:p>
          <a:p>
            <a:r>
              <a:t>• Leyenda: PK llave primaria, FK llave foránea, AK llave alterna; línea continua = relación identificante, punteada = no identificante.</a:t>
            </a:r>
          </a:p>
          <a:p>
            <a:r>
              <a:t>• Recorrido: un Usuario realiza una Recomendacion para una Zona; su detalle apunta a las Compatibilidades sugeridas en orden.</a:t>
            </a:r>
          </a:p>
          <a:p>
            <a:r>
              <a:t>• Especie se relaciona con TipoSuelo, Plaga y Mantenimiento; Zona con Distrito y TipoSuelo.</a:t>
            </a:r>
          </a:p>
          <a:p>
            <a:r>
              <a:t>• Regla no garantizada por el modelo: la zona de la recomendación debe coincidir con la de sus compatibilidades (procedimiento almacenado o disparador).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Angel Alejandro Arias Ticona</a:t>
            </a:r>
          </a:p>
          <a:p>
            <a:r>
              <a:t>• El modelo lógico se traduce a tipos de SQL Server: INT IDENTITY para claves, VARCHAR para textos, DECIMAL(4,1) para temperaturas, DECIMAL(5,2) para humedad y DECIMAL(9,6) para latitud y longitud.</a:t>
            </a:r>
          </a:p>
          <a:p>
            <a:r>
              <a:t>• Fechas: DATETIME2 con valor por defecto SYSDATETIME() en fecha_registro y fecha_consulta; BIT para el campo activo de Usuario.</a:t>
            </a:r>
          </a:p>
          <a:p>
            <a:r>
              <a:t>• Restricciones CHECK: humedad entre 0 y 100, niveles Baja/Media/Alta, temp_min ≤ temp_max, frecuencia_dias &gt; 0.</a:t>
            </a:r>
          </a:p>
          <a:p>
            <a:r>
              <a:t>• UNIQUE: correo, nombre_cientifico y el par (id_especie, id_zona) en Compatibilidad.</a:t>
            </a:r>
          </a:p>
          <a:p>
            <a:r>
              <a:t>• Borrado: NO ACTION en catálogos y ON DELETE CASCADE solo de Recomendacion a DetalleRecomendacion.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Rodolfo Enmanuel Méndez Díaz</a:t>
            </a:r>
          </a:p>
          <a:p>
            <a:r>
              <a:t>• Relacional: SQL Server con SSMS 21 por su fiabilidad, integridad y consistencia de la información.</a:t>
            </a:r>
          </a:p>
          <a:p>
            <a:r>
              <a:t>• No relacional, alternativas evaluadas: Redis (clave-valor, muy rápido en memoria, pero sin consultas complejas) y Cassandra (columna ancha, alta disponibilidad, pero configuración compleja).</a:t>
            </a:r>
          </a:p>
          <a:p>
            <a:r>
              <a:t>• Se eligió MongoDB por su esquema flexible para fichas botánicas, el registro de recomendaciones como documentos y la preparación para sensores IoT.</a:t>
            </a:r>
          </a:p>
          <a:p>
            <a:r>
              <a:t>• Ceder la palabra para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Expone: Digber David Espinoza Huamani</a:t>
            </a:r>
          </a:p>
          <a:p>
            <a:r>
              <a:t>• Resumir: FloraGuía centraliza la información de especies y zonas para reducir la pérdida de plantas y el uso ineficiente de recursos.</a:t>
            </a:r>
          </a:p>
          <a:p>
            <a:r>
              <a:t>• Próximos pasos: scripts de creación y carga de datos, y consultas (secciones 4.3 y 4.4).</a:t>
            </a:r>
          </a:p>
          <a:p>
            <a:r>
              <a:t>• Agradecer y abrir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2E5A3F"/>
              </a:gs>
              <a:gs pos="100000">
                <a:srgbClr val="1F3A2B"/>
              </a:gs>
            </a:gsLst>
            <a:lin scaled="0" ang="174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2540000"/>
            <a:ext cx="1778000" cy="177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E9A867"/>
                </a:solidFill>
                <a:latin typeface="Calibri"/>
              </a:rPr>
              <a:t>RAÍZ URBANA · TRABAJO FINAL DE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347714"/>
            <a:ext cx="79248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7000"/>
              </a:lnSpc>
            </a:pPr>
            <a:r>
              <a:rPr sz="7000" b="1">
                <a:solidFill>
                  <a:srgbClr val="F4F1E8"/>
                </a:solidFill>
                <a:latin typeface="Cambria"/>
              </a:rPr>
              <a:t>FloraGuía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484364"/>
            <a:ext cx="7924800" cy="726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C9DCC9"/>
                </a:solidFill>
                <a:latin typeface="Calibri"/>
              </a:rPr>
              <a:t>Base de datos para recomendar qué especies sembrar en cada zona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496719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0">
                <a:solidFill>
                  <a:srgbClr val="C9DCC9"/>
                </a:solidFill>
                <a:latin typeface="Calibri"/>
              </a:rPr>
              <a:t>1ASI0787 Base de Datos · NRC 8696 · Docente: Felicita Saenz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5796359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0">
                <a:solidFill>
                  <a:srgbClr val="C9DCC9"/>
                </a:solidFill>
                <a:latin typeface="Calibri"/>
              </a:rPr>
              <a:t>UPC · Período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Hoy se elige qué sembrar por prueba y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08510"/>
            <a:ext cx="3386634" cy="2522141"/>
          </a:xfrm>
          <a:prstGeom prst="roundRect">
            <a:avLst>
              <a:gd name="adj" fmla="val 4028"/>
            </a:avLst>
          </a:prstGeom>
          <a:solidFill>
            <a:srgbClr val="FBFAF5"/>
          </a:solidFill>
          <a:ln w="6350">
            <a:solidFill>
              <a:srgbClr val="D9DE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2468860"/>
            <a:ext cx="355600" cy="35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3150" y="2926060"/>
            <a:ext cx="29805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Quiénes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3150" y="3332460"/>
            <a:ext cx="2980571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Aficionados a la jardinería, personal técnico de SERPAR y viveros.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634" y="2208510"/>
            <a:ext cx="3386634" cy="2522141"/>
          </a:xfrm>
          <a:prstGeom prst="roundRect">
            <a:avLst>
              <a:gd name="adj" fmla="val 4028"/>
            </a:avLst>
          </a:prstGeom>
          <a:solidFill>
            <a:srgbClr val="FBFAF5"/>
          </a:solidFill>
          <a:ln w="6350">
            <a:solidFill>
              <a:srgbClr val="D9DE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984" y="2468860"/>
            <a:ext cx="3556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2984" y="2926060"/>
            <a:ext cx="29805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Dónde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84" y="3332460"/>
            <a:ext cx="2980571" cy="1137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Lima Metropolitana: microclimas costeros, intermedios y elevados entre distritos.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2467" y="2208510"/>
            <a:ext cx="3386634" cy="2522141"/>
          </a:xfrm>
          <a:prstGeom prst="roundRect">
            <a:avLst>
              <a:gd name="adj" fmla="val 4028"/>
            </a:avLst>
          </a:prstGeom>
          <a:solidFill>
            <a:srgbClr val="FBFAF5"/>
          </a:solidFill>
          <a:ln w="6350">
            <a:solidFill>
              <a:srgbClr val="D9DE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817" y="2468860"/>
            <a:ext cx="355600" cy="355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2817" y="2926060"/>
            <a:ext cx="298057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Consecuencia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2817" y="3332460"/>
            <a:ext cx="2980571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Alta mortalidad de plantas, riego ineficiente y sobrecostos de reforestación.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273080"/>
            <a:ext cx="9906000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45564B"/>
                </a:solidFill>
                <a:latin typeface="Calibri"/>
              </a:rPr>
              <a:t>Causa raíz:</a:t>
            </a:r>
            <a:r>
              <a:rPr sz="1600" b="0">
                <a:solidFill>
                  <a:srgbClr val="45564B"/>
                </a:solidFill>
                <a:latin typeface="Calibri"/>
              </a:rPr>
              <a:t> no existe una fuente centralizada y validada que relacione cada especie con el suelo, clima, radiación y agua de una zona.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6238280"/>
            <a:ext cx="10989056" cy="2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200" b="0">
                <a:solidFill>
                  <a:srgbClr val="6B7A6F"/>
                </a:solidFill>
                <a:latin typeface="Calibri"/>
              </a:rPr>
              <a:t>Fuente: Rivera et al. (2024); Merlo y Sanz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Cruzar la zona con el perfil de cada especie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722959"/>
            <a:ext cx="5181600" cy="1559520"/>
          </a:xfrm>
          <a:prstGeom prst="roundRect">
            <a:avLst>
              <a:gd name="adj" fmla="val 4886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722959"/>
            <a:ext cx="50800" cy="1559520"/>
          </a:xfrm>
          <a:prstGeom prst="rect">
            <a:avLst/>
          </a:prstGeom>
          <a:solidFill>
            <a:srgbClr val="2E5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400" y="3027759"/>
            <a:ext cx="47020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Sugerencias precisas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3408759"/>
            <a:ext cx="4702048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Consultas que correlacionan suelo, clima y agua de un área con el cultivo óptimo de cada planta.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2722959"/>
            <a:ext cx="5181600" cy="1559520"/>
          </a:xfrm>
          <a:prstGeom prst="roundRect">
            <a:avLst>
              <a:gd name="adj" fmla="val 4886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7600" y="2722959"/>
            <a:ext cx="50800" cy="1559520"/>
          </a:xfrm>
          <a:prstGeom prst="rect">
            <a:avLst/>
          </a:prstGeom>
          <a:solidFill>
            <a:srgbClr val="2E5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3027759"/>
            <a:ext cx="47020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Eficiencia para SERPAR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408759"/>
            <a:ext cx="4702048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Mejor uso del presupuesto de arborización al aumentar la supervivencia de áreas verdes.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4485680"/>
            <a:ext cx="5181600" cy="1559520"/>
          </a:xfrm>
          <a:prstGeom prst="roundRect">
            <a:avLst>
              <a:gd name="adj" fmla="val 4886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4485680"/>
            <a:ext cx="50800" cy="1559520"/>
          </a:xfrm>
          <a:prstGeom prst="rect">
            <a:avLst/>
          </a:prstGeom>
          <a:solidFill>
            <a:srgbClr val="B565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8400" y="4790480"/>
            <a:ext cx="47020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Guía para el aficionado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5171480"/>
            <a:ext cx="4702048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Recomendaciones de siembra y cuidados según la ubicación exacta del usuario.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4485680"/>
            <a:ext cx="5181600" cy="1559520"/>
          </a:xfrm>
          <a:prstGeom prst="roundRect">
            <a:avLst>
              <a:gd name="adj" fmla="val 4886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7600" y="4485680"/>
            <a:ext cx="50800" cy="1559520"/>
          </a:xfrm>
          <a:prstGeom prst="rect">
            <a:avLst/>
          </a:prstGeom>
          <a:solidFill>
            <a:srgbClr val="B565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0" y="4790480"/>
            <a:ext cx="47020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Estructura escalable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5171480"/>
            <a:ext cx="4702048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Modelo de datos listo para métricas de suelo, clima, plagas y mantenimiento.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SEGMENTOS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Dos usuarios, una misma necesidad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21681"/>
            <a:ext cx="5156200" cy="4023519"/>
          </a:xfrm>
          <a:prstGeom prst="roundRect">
            <a:avLst>
              <a:gd name="adj" fmla="val 2525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2377281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8400" y="2961481"/>
            <a:ext cx="4622800" cy="67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3A2B"/>
                </a:solidFill>
                <a:latin typeface="Cambria"/>
              </a:rPr>
              <a:t>Aficionados a la jardinería y huertos urbanos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3759002"/>
            <a:ext cx="4622800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Cultivan plantas ornamentales, comestibles o de interior y buscan orientación técnica clara según su ubicación.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0" y="2021681"/>
            <a:ext cx="5156200" cy="4023519"/>
          </a:xfrm>
          <a:prstGeom prst="roundRect">
            <a:avLst>
              <a:gd name="adj" fmla="val 2525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237728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78600" y="2961481"/>
            <a:ext cx="4622800" cy="67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3A2B"/>
                </a:solidFill>
                <a:latin typeface="Cambria"/>
              </a:rPr>
              <a:t>Gestores de áreas verdes públicas (SERPAR)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0" y="3759002"/>
            <a:ext cx="4622800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Ingenieros forestales, agrónomos y planificadores que seleccionan especies y mantienen parques y alamedas.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ENTREVISTAS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Escuchamos a ambos segmentos</a:t>
            </a:r>
          </a:p>
        </p:txBody>
      </p:sp>
      <p:pic>
        <p:nvPicPr>
          <p:cNvPr id="4" name="Picture 3" descr="entrevista-aficionado.png"/>
          <p:cNvPicPr>
            <a:picLocks noChangeAspect="1"/>
          </p:cNvPicPr>
          <p:nvPr/>
        </p:nvPicPr>
        <p:blipFill>
          <a:blip r:embed="rId2"/>
          <a:srcRect t="10591" b="10591"/>
          <a:stretch>
            <a:fillRect/>
          </a:stretch>
        </p:blipFill>
        <p:spPr>
          <a:xfrm>
            <a:off x="812800" y="1970881"/>
            <a:ext cx="5156200" cy="2540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2800" y="4637881"/>
            <a:ext cx="53624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Maykel Adrian Ticona Ynga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5069681"/>
            <a:ext cx="5362448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0">
                <a:solidFill>
                  <a:srgbClr val="45564B"/>
                </a:solidFill>
                <a:latin typeface="Calibri"/>
              </a:rPr>
              <a:t>Aficionado · San Martín de Porres</a:t>
            </a:r>
          </a:p>
        </p:txBody>
      </p:sp>
      <p:pic>
        <p:nvPicPr>
          <p:cNvPr id="7" name="Picture 6" descr="entrevista-gestor-1.png"/>
          <p:cNvPicPr>
            <a:picLocks noChangeAspect="1"/>
          </p:cNvPicPr>
          <p:nvPr/>
        </p:nvPicPr>
        <p:blipFill>
          <a:blip r:embed="rId3"/>
          <a:srcRect l="20879" r="20879"/>
          <a:stretch>
            <a:fillRect/>
          </a:stretch>
        </p:blipFill>
        <p:spPr>
          <a:xfrm>
            <a:off x="6223000" y="1970881"/>
            <a:ext cx="2527300" cy="2540000"/>
          </a:xfrm>
          <a:prstGeom prst="roundRect">
            <a:avLst>
              <a:gd name="adj" fmla="val 4020"/>
            </a:avLst>
          </a:prstGeom>
        </p:spPr>
      </p:pic>
      <p:pic>
        <p:nvPicPr>
          <p:cNvPr id="8" name="Picture 7" descr="entrevista-gestor-2.png"/>
          <p:cNvPicPr>
            <a:picLocks noChangeAspect="1"/>
          </p:cNvPicPr>
          <p:nvPr/>
        </p:nvPicPr>
        <p:blipFill>
          <a:blip r:embed="rId4"/>
          <a:srcRect l="19952" r="19952"/>
          <a:stretch>
            <a:fillRect/>
          </a:stretch>
        </p:blipFill>
        <p:spPr>
          <a:xfrm>
            <a:off x="8851900" y="1970881"/>
            <a:ext cx="2527300" cy="2540000"/>
          </a:xfrm>
          <a:prstGeom prst="roundRect">
            <a:avLst>
              <a:gd name="adj" fmla="val 402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223000" y="4637881"/>
            <a:ext cx="536244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Max Yapu Jalio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5069681"/>
            <a:ext cx="5362448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0">
                <a:solidFill>
                  <a:srgbClr val="45564B"/>
                </a:solidFill>
                <a:latin typeface="Calibri"/>
              </a:rPr>
              <a:t>Gestor de áreas verdes · Comas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ANÁLISIS DE ENTREVISTAS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Cada hallazgo se convierte en un requisito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20081"/>
          <a:ext cx="10566400" cy="314374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94536"/>
                <a:gridCol w="1479252"/>
                <a:gridCol w="3592612"/>
              </a:tblGrid>
              <a:tr h="4463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1E8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1F3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1E8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1F3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1E8"/>
                          </a:solidFill>
                          <a:latin typeface="Calibri"/>
                        </a:rPr>
                        <a:t>Requisito / entidad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1F3A2B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Selección empírica, sin fuente validada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E1, 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RF-02, RF-06 · Especie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Suelo, clima, agua y sol definen el éxito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E1, 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RF-03 a RF-05 · Zona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Hongos y plagas causan pérdidas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E1, 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RF-08, RF-10 · Plaga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Cuidados por temporada y recordatorios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E1, 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RF-09 · Mantenimiento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Informes para planificar recursos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RF-12 · Reportes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Validación por especialistas y permisos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2B"/>
                          </a:solidFill>
                          <a:latin typeface="Calibri"/>
                        </a:rPr>
                        <a:t>RF-13, RNF-01</a:t>
                      </a:r>
                    </a:p>
                  </a:txBody>
                  <a:tcPr marL="152400" marR="152400" marT="76200" marB="76200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9DED4"/>
                      </a:solidFill>
                    </a:lnB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E9A867"/>
                </a:solidFill>
                <a:latin typeface="Calibri"/>
              </a:rPr>
              <a:t>REQUISITOS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F4F1E8"/>
                </a:solidFill>
                <a:latin typeface="Cambria"/>
              </a:rPr>
              <a:t>Lo que el sistema debe hacer y garantizar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931220"/>
            <a:ext cx="5156200" cy="3113980"/>
          </a:xfrm>
          <a:prstGeom prst="roundRect">
            <a:avLst>
              <a:gd name="adj" fmla="val 3262"/>
            </a:avLst>
          </a:prstGeom>
          <a:solidFill>
            <a:srgbClr val="2A4A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3236020"/>
            <a:ext cx="47284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E9A867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4480620"/>
            <a:ext cx="47284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4F1E8"/>
                </a:solidFill>
                <a:latin typeface="Calibri"/>
              </a:rPr>
              <a:t>Requisitos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4887020"/>
            <a:ext cx="4728464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C9DCC9"/>
                </a:solidFill>
                <a:latin typeface="Calibri"/>
              </a:rPr>
              <a:t>Catálogo de especies, zonas, compatibilidad, recomendación de siembra, plagas, mantenimiento y reportes.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0" y="2931220"/>
            <a:ext cx="5156200" cy="3113980"/>
          </a:xfrm>
          <a:prstGeom prst="roundRect">
            <a:avLst>
              <a:gd name="adj" fmla="val 3262"/>
            </a:avLst>
          </a:prstGeom>
          <a:solidFill>
            <a:srgbClr val="2A4A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7800" y="3236020"/>
            <a:ext cx="47284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E9A867"/>
                </a:solidFill>
                <a:latin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0" y="4480620"/>
            <a:ext cx="47284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4F1E8"/>
                </a:solidFill>
                <a:latin typeface="Calibri"/>
              </a:rPr>
              <a:t>Requisitos no funcionales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0" y="4887020"/>
            <a:ext cx="4728464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C9DCC9"/>
                </a:solidFill>
                <a:latin typeface="Calibri"/>
              </a:rPr>
              <a:t>Seguridad, integridad referencial, rendimiento, escalabilidad, usabilidad web y móvil, 3FN.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DISEÑO DE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1005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14 entidades en tres bloques, unidas por Compatibilidad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720280"/>
            <a:ext cx="3386634" cy="2489200"/>
          </a:xfrm>
          <a:prstGeom prst="roundRect">
            <a:avLst>
              <a:gd name="adj" fmla="val 3061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720280"/>
            <a:ext cx="3386634" cy="50800"/>
          </a:xfrm>
          <a:prstGeom prst="rect">
            <a:avLst/>
          </a:prstGeom>
          <a:solidFill>
            <a:srgbClr val="3D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3025080"/>
            <a:ext cx="299377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Usuarios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431480"/>
            <a:ext cx="299377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TipoUsuario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Usuario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Recomendacion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DetalleRecomendacion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634" y="2720280"/>
            <a:ext cx="3386733" cy="2489200"/>
          </a:xfrm>
          <a:prstGeom prst="roundRect">
            <a:avLst>
              <a:gd name="adj" fmla="val 3061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2634" y="2720280"/>
            <a:ext cx="3386733" cy="50800"/>
          </a:xfrm>
          <a:prstGeom prst="rect">
            <a:avLst/>
          </a:prstGeom>
          <a:solidFill>
            <a:srgbClr val="B565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6634" y="3025080"/>
            <a:ext cx="299388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Zonas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6634" y="3431480"/>
            <a:ext cx="29938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Distrito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TipoSuelo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Zona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2566" y="2720280"/>
            <a:ext cx="3386634" cy="2489200"/>
          </a:xfrm>
          <a:prstGeom prst="roundRect">
            <a:avLst>
              <a:gd name="adj" fmla="val 3061"/>
            </a:avLst>
          </a:prstGeom>
          <a:solidFill>
            <a:srgbClr val="FBFA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2566" y="2720280"/>
            <a:ext cx="3386634" cy="50800"/>
          </a:xfrm>
          <a:prstGeom prst="rect">
            <a:avLst/>
          </a:prstGeom>
          <a:solidFill>
            <a:srgbClr val="2E5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6566" y="3025080"/>
            <a:ext cx="299377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Especies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6566" y="3431480"/>
            <a:ext cx="299377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CategoriaEspecie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Especie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EspecieTipoSuelo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Plaga · EspeciePlaga</a:t>
            </a:r>
            <a:br/>
            <a:r>
              <a:rPr sz="1600" b="0">
                <a:solidFill>
                  <a:srgbClr val="45564B"/>
                </a:solidFill>
                <a:latin typeface="Calibri"/>
              </a:rPr>
              <a:t>Mantenimiento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760740"/>
            <a:ext cx="10989056" cy="284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45564B"/>
                </a:solidFill>
                <a:latin typeface="Calibri"/>
              </a:rPr>
              <a:t>Compatibilidad</a:t>
            </a:r>
            <a:r>
              <a:rPr sz="1600" b="0">
                <a:solidFill>
                  <a:srgbClr val="45564B"/>
                </a:solidFill>
                <a:latin typeface="Calibri"/>
              </a:rPr>
              <a:t> guarda el nivel y puntaje validados de cada par especie–zona. Modelo normalizado hasta 3FN.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457200"/>
            <a:ext cx="11834368" cy="363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2600" b="1">
                <a:solidFill>
                  <a:srgbClr val="1F3A2B"/>
                </a:solidFill>
                <a:latin typeface="Cambria"/>
              </a:rPr>
              <a:t>Diagrama entidad-relación lógico</a:t>
            </a:r>
          </a:p>
        </p:txBody>
      </p:sp>
      <p:pic>
        <p:nvPicPr>
          <p:cNvPr id="3" name="Picture 2" descr="der-log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50" y="972741"/>
            <a:ext cx="9564301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457200"/>
            <a:ext cx="11834368" cy="363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2600" b="1">
                <a:solidFill>
                  <a:srgbClr val="F4F1E8"/>
                </a:solidFill>
                <a:latin typeface="Cambria"/>
              </a:rPr>
              <a:t>Diagrama entidad-relación físico</a:t>
            </a:r>
          </a:p>
        </p:txBody>
      </p:sp>
      <p:pic>
        <p:nvPicPr>
          <p:cNvPr id="3" name="Picture 2" descr="der-fis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09" y="972741"/>
            <a:ext cx="10060983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B5652A"/>
                </a:solidFill>
                <a:latin typeface="Calibri"/>
              </a:rPr>
              <a:t>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3241"/>
            <a:ext cx="10989056" cy="5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3600" b="1">
                <a:solidFill>
                  <a:srgbClr val="1F3A2B"/>
                </a:solidFill>
                <a:latin typeface="Cambria"/>
              </a:rPr>
              <a:t>Persistencia políglota: relacional + documentos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510830"/>
            <a:ext cx="5156200" cy="2440880"/>
          </a:xfrm>
          <a:prstGeom prst="roundRect">
            <a:avLst>
              <a:gd name="adj" fmla="val 4162"/>
            </a:avLst>
          </a:prstGeom>
          <a:solidFill>
            <a:srgbClr val="FBFAF5"/>
          </a:solidFill>
          <a:ln w="6350">
            <a:solidFill>
              <a:srgbClr val="D9DE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821980"/>
            <a:ext cx="4064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3950" y="3355380"/>
            <a:ext cx="471525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3787180"/>
            <a:ext cx="4715256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Usuarios, catálogos maestros y compatibilidades validadas, con integridad ACID y claves foráneas.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0" y="2510830"/>
            <a:ext cx="5156200" cy="2440880"/>
          </a:xfrm>
          <a:prstGeom prst="roundRect">
            <a:avLst>
              <a:gd name="adj" fmla="val 4162"/>
            </a:avLst>
          </a:prstGeom>
          <a:solidFill>
            <a:srgbClr val="FBFAF5"/>
          </a:solidFill>
          <a:ln w="6350">
            <a:solidFill>
              <a:srgbClr val="D9DE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821980"/>
            <a:ext cx="406400" cy="40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4150" y="3355380"/>
            <a:ext cx="471525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3A2B"/>
                </a:solidFill>
                <a:latin typeface="Calibri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787180"/>
            <a:ext cx="4715256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0">
                <a:solidFill>
                  <a:srgbClr val="45564B"/>
                </a:solidFill>
                <a:latin typeface="Calibri"/>
              </a:rPr>
              <a:t>Fichas botánicas flexibles, logs de recomendaciones y futuras lecturas de sensores (RNF-05).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796359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0">
                <a:solidFill>
                  <a:srgbClr val="6B7A6F"/>
                </a:solidFill>
                <a:latin typeface="Calibri"/>
              </a:rPr>
              <a:t>MongoDB se eligió frente a Redis y Cassandra por su esquema flexible y consultas expresivas.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989056" cy="2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400" b="1" spc="200">
                <a:solidFill>
                  <a:srgbClr val="E9A867"/>
                </a:solidFill>
                <a:latin typeface="Calibri"/>
              </a:rPr>
              <a:t>EQUIPO RAÍZ URBANA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14041"/>
            <a:ext cx="10989056" cy="67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4800" b="1">
                <a:solidFill>
                  <a:srgbClr val="F4F1E8"/>
                </a:solidFill>
                <a:latin typeface="Cambria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602559"/>
            <a:ext cx="5283200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F4F1E8"/>
                </a:solidFill>
                <a:latin typeface="Calibri"/>
              </a:rPr>
              <a:t>Digber David Espinoza Huamani</a:t>
            </a:r>
            <a:br/>
            <a:r>
              <a:rPr sz="1600" b="0">
                <a:solidFill>
                  <a:srgbClr val="C9DCC9"/>
                </a:solidFill>
                <a:latin typeface="Calibri"/>
              </a:rPr>
              <a:t>Team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200" y="4602559"/>
            <a:ext cx="5283200" cy="56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F4F1E8"/>
                </a:solidFill>
                <a:latin typeface="Calibri"/>
              </a:rPr>
              <a:t>Rodolfo Enmanuel Méndez Díaz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5323880"/>
            <a:ext cx="5283200" cy="284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F4F1E8"/>
                </a:solidFill>
                <a:latin typeface="Calibri"/>
              </a:rPr>
              <a:t>Bryan Jair Lluen Garnique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9200" y="5323880"/>
            <a:ext cx="5283200" cy="284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F4F1E8"/>
                </a:solidFill>
                <a:latin typeface="Calibri"/>
              </a:rPr>
              <a:t>Angel Alejandro Arias Ticona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5760740"/>
            <a:ext cx="5283200" cy="284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1600" b="1">
                <a:solidFill>
                  <a:srgbClr val="F4F1E8"/>
                </a:solidFill>
                <a:latin typeface="Calibri"/>
              </a:rPr>
              <a:t>Brother Pablo Moreno Cordova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FloraGuía – Raíz Urbana</dc:title>
  <dc:subject/>
  <dc:creator>Equipo Raíz Urbana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